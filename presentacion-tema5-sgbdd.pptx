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67" r:id="rId14"/>
    <p:sldId id="27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603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Tema 5. Grupo 5, IS-404, ULEAM 2026-1. Mencionar el caso de uso FarmaEC.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 clave: las recetas médicas de pacientes son 'datos sensibles' bajo la LOPDP. El incumplimiento puede derivar en sanciones administrativas.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la LOPDP no es opcional: es ley vigente desde 2021 con plazo de adecuación ya cumplido para empresas grandes.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diseño es deliberadamente simple (un nodo) para demostrar los controles sin ruido. En producción el mismo modelo se aplica a cada nodo del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diagrama es el flujo de la demo. Recalcar que la prueba más importante es el ERROR permission denied: el usuario analista_marketing está autenticado pero igual no puede ver la tabla.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Docker Desktop abierto antes de ejecutar cualquier comando. Sin el daemon activo, Docker no funciona. El Dockerfile copia los certificados y hace chmod 600 sobre server.key.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prueba 4 (permission denied para analista_marketing) es la más importante. Muestra la captura con el prompt farmaec=&gt; y el error. Compara con la prueba 3 donde el farmacéutico sí puede ver la misma tabla.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los resultados son reales, obtenidos durante la ejecución de la demo. Las capturas están en la carpeta EVIDENCIA/ del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las limitaciones proactivamente muestra pensamiento crítico. La rúbrica las exige explícitamente. Resaltar que en producción se usaría pgAudit + cert-manager.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recomendación conecta directamente con los Labs 2 (MongoDB/sharding) y 3 (Cassandra/replicación). Implementar estas 4 acciones cubriría el Art. 37 de la LOPDP para el Proyecto Integrador.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muestra que ningún motor es 'el más seguro' en absoluto: PostgreSQL tiene el control más granular pero no escala horizontalmente igual que los otros. Cassandra escala mejor pero su auditoría es más limitada.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son los 'conceptos avanzados obligatorios' del silabo del Tema 5. Se mencionaron en el informe como trabajo futuro. Aquí los contextualizamos con 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Conclusión principal: con herramientas estándar y Docker se puede demostrar seguridad real, reproducible y documentada. No se necesitan productos de terceros para el punto de partida mínimo.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Invitar preguntas. Si preguntan por temas que cubren las limitaciones (mTLS, pgAudit, rotación), responder que están documentados como trabajo futuro en el informe.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A3A5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463040" y="45720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26517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274320" y="3200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 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74320" y="37490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NORMATIVO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" y="41605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SGBDD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212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212080" y="685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IS-404 · SGBDD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212080" y="1005840"/>
            <a:ext cx="3474720" cy="18288"/>
          </a:xfrm>
          <a:prstGeom prst="rect">
            <a:avLst/>
          </a:prstGeom>
          <a:solidFill>
            <a:srgbClr val="0A7D7D"/>
          </a:solidFill>
          <a:ln/>
        </p:spPr>
      </p:sp>
      <p:sp>
        <p:nvSpPr>
          <p:cNvPr id="11" name="Text 8"/>
          <p:cNvSpPr/>
          <p:nvPr/>
        </p:nvSpPr>
        <p:spPr>
          <a:xfrm>
            <a:off x="5212080" y="11430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Macías Quintero Jareth Josue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Villacreses Paucar Diego Ivan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Pazmiño Granillo Derick Paolo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12080" y="2103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212080" y="23591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Gómez Calderón Israel Julio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212080" y="2743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 de Ciencias de la Vida y Tecnologías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212080" y="29992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ULEAM  ·  Junio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21208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FarmaEC – Caso de estudio: cadena de farmacias Ecuador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no basta con tener los datos guardados?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A7D7D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2588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2606040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3441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Intercepción en tránsito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91640"/>
            <a:ext cx="777240" cy="777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5488" y="25786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cifrado, cualquier agente en la red puede leer consultas SQL y diagnósticos de pacientes.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32588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325880"/>
            <a:ext cx="260604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9"/>
          <p:cNvSpPr/>
          <p:nvPr/>
        </p:nvSpPr>
        <p:spPr>
          <a:xfrm>
            <a:off x="3310128" y="13441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indebido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69164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0128" y="25786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roles, cualquier empleado autenticado puede ver datos de salud que no le corresponden.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32588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1325880"/>
            <a:ext cx="260604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3"/>
          <p:cNvSpPr/>
          <p:nvPr/>
        </p:nvSpPr>
        <p:spPr>
          <a:xfrm>
            <a:off x="6144768" y="13441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trazabilidad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691640"/>
            <a:ext cx="777240" cy="7772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44768" y="25786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auditoría, una empresa no puede demostrar ante la LOPDP quién accedió a qué y cuándo.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normativo: LOPDP Ecuador (2021) • Art. 37: medidas técnicas proporcionales al riesgo para datos sensibles (salud).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IS-404  •  Tema 5: Seguridad en SGBDD  •  ULEAM 2026-1  •  2/14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Normativo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LOPDP Ecuador y GDPR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A7D7D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61872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1A2F4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🇪🇨  LOPDP Ecuador (2021)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Oficial No. 459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37: medidas técnicas proporcionales al riesgo.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salud = datos sensibles.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 control de acceso + trazabilidad.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Sanciones administrativas por incumplimiento.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61872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1A2F4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🇪🇺  GDPR (Reglamento 2016/679)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extraterritorial.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32: seguridad del tratamiento.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Cifrado como medida técnica explícita.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Notificación de brechas en 72 horas.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Multas: hasta 4% del volumen de negocios global.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FarmaEC: la LOPDP aplica por residir en Ecuador. El GDPR aplica si atiende a pacientes europeos.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IS-404  •  Tema 5: Seguridad en SGBDD  •  ULEAM 2026-1  •  3/14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la Demo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capas de seguridad sobre un nodo PostgreSQL en Docker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A7D7D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0" y="1261872"/>
            <a:ext cx="6126480" cy="457200"/>
          </a:xfrm>
          <a:prstGeom prst="roundRect">
            <a:avLst>
              <a:gd name="adj" fmla="val 18000"/>
            </a:avLst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2633472" y="133502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 (psql / aplicación)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874520"/>
            <a:ext cx="6126480" cy="457200"/>
          </a:xfrm>
          <a:prstGeom prst="roundRect">
            <a:avLst>
              <a:gd name="adj" fmla="val 18000"/>
            </a:avLst>
          </a:prstGeom>
          <a:solidFill>
            <a:srgbClr val="0A7D7D"/>
          </a:solidFill>
          <a:ln/>
        </p:spPr>
      </p:sp>
      <p:sp>
        <p:nvSpPr>
          <p:cNvPr id="8" name="Text 6"/>
          <p:cNvSpPr/>
          <p:nvPr/>
        </p:nvSpPr>
        <p:spPr>
          <a:xfrm>
            <a:off x="2633472" y="194767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1 · TLS 1.3 obligatorio  →  sslmode=require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2487168"/>
            <a:ext cx="6126480" cy="457200"/>
          </a:xfrm>
          <a:prstGeom prst="roundRect">
            <a:avLst>
              <a:gd name="adj" fmla="val 18000"/>
            </a:avLst>
          </a:prstGeom>
          <a:solidFill>
            <a:srgbClr val="0A5F6A"/>
          </a:solidFill>
          <a:ln/>
        </p:spPr>
      </p:sp>
      <p:sp>
        <p:nvSpPr>
          <p:cNvPr id="10" name="Text 8"/>
          <p:cNvSpPr/>
          <p:nvPr/>
        </p:nvSpPr>
        <p:spPr>
          <a:xfrm>
            <a:off x="2633472" y="25603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2 · Autenticación  →  SCRAM-SHA-256 (contraseña hasheada)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3099816"/>
            <a:ext cx="6126480" cy="457200"/>
          </a:xfrm>
          <a:prstGeom prst="roundRect">
            <a:avLst>
              <a:gd name="adj" fmla="val 18000"/>
            </a:avLst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2633472" y="31729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3 · Autorización (Roles)  →  GRANT selectivo por tabla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3712464"/>
            <a:ext cx="6126480" cy="502920"/>
          </a:xfrm>
          <a:prstGeom prst="roundRect">
            <a:avLst>
              <a:gd name="adj" fmla="val 16364"/>
            </a:avLst>
          </a:prstGeom>
          <a:solidFill>
            <a:srgbClr val="1A2F45"/>
          </a:solidFill>
          <a:ln/>
        </p:spPr>
      </p:sp>
      <p:sp>
        <p:nvSpPr>
          <p:cNvPr id="14" name="Text 12"/>
          <p:cNvSpPr/>
          <p:nvPr/>
        </p:nvSpPr>
        <p:spPr>
          <a:xfrm>
            <a:off x="2633472" y="3785616"/>
            <a:ext cx="5943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sensibles  →  tabla recetas_medicas (datos de salud LOPDP)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1828800"/>
            <a:ext cx="0" cy="64008"/>
          </a:xfrm>
          <a:prstGeom prst="line">
            <a:avLst/>
          </a:prstGeom>
          <a:noFill/>
          <a:ln w="25400">
            <a:solidFill>
              <a:srgbClr val="0A7D7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3560" y="2441448"/>
            <a:ext cx="0" cy="64008"/>
          </a:xfrm>
          <a:prstGeom prst="line">
            <a:avLst/>
          </a:prstGeom>
          <a:noFill/>
          <a:ln w="25400">
            <a:solidFill>
              <a:srgbClr val="0A7D7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23560" y="3054096"/>
            <a:ext cx="0" cy="64008"/>
          </a:xfrm>
          <a:prstGeom prst="line">
            <a:avLst/>
          </a:prstGeom>
          <a:noFill/>
          <a:ln w="25400">
            <a:solidFill>
              <a:srgbClr val="0A7D7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3666744"/>
            <a:ext cx="0" cy="64008"/>
          </a:xfrm>
          <a:prstGeom prst="line">
            <a:avLst/>
          </a:prstGeom>
          <a:noFill/>
          <a:ln w="25400">
            <a:solidFill>
              <a:srgbClr val="0A7D7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261872"/>
            <a:ext cx="2103120" cy="32004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1298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" y="1664208"/>
            <a:ext cx="1956816" cy="32004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1700784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admin_farmacia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201168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total del esquema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2578608"/>
            <a:ext cx="1956816" cy="320040"/>
          </a:xfrm>
          <a:prstGeom prst="roundRect">
            <a:avLst>
              <a:gd name="adj" fmla="val 20000"/>
            </a:avLst>
          </a:prstGeom>
          <a:solidFill>
            <a:srgbClr val="0A7D7D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2615184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farmaceutico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4048" y="292608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recetas + gestiona inventario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3493008"/>
            <a:ext cx="1956816" cy="320040"/>
          </a:xfrm>
          <a:prstGeom prst="roundRect">
            <a:avLst>
              <a:gd name="adj" fmla="val 20000"/>
            </a:avLst>
          </a:prstGeom>
          <a:solidFill>
            <a:srgbClr val="94A3B8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3529584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analista_marketing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048" y="384048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catálogo y ventas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IS-404  •  Tema 5: Seguridad en SGBDD  •  ULEAM 2026-1  •  4/14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Datos y Control de Acceso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pasa exactamente cuando un usuario intenta conectarse?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A7D7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10312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1A3A5C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(cliente psql)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2103120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0A7D7D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48840" y="2148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¿sslmode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require?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2103120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0A5F6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60520" y="2148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¿Contraseña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correcta?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2103120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1A3A5C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2148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¿Tiene GRANT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esa tabla?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92440" y="2103120"/>
            <a:ext cx="822960" cy="640080"/>
          </a:xfrm>
          <a:prstGeom prst="roundRect">
            <a:avLst>
              <a:gd name="adj" fmla="val 17143"/>
            </a:avLst>
          </a:prstGeom>
          <a:solidFill>
            <a:srgbClr val="16A34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38160" y="2148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2423160"/>
            <a:ext cx="274320" cy="0"/>
          </a:xfrm>
          <a:prstGeom prst="line">
            <a:avLst/>
          </a:prstGeom>
          <a:noFill/>
          <a:ln w="25400">
            <a:solidFill>
              <a:srgbClr val="0A7D7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2423160"/>
            <a:ext cx="274320" cy="0"/>
          </a:xfrm>
          <a:prstGeom prst="line">
            <a:avLst/>
          </a:prstGeom>
          <a:noFill/>
          <a:ln w="25400">
            <a:solidFill>
              <a:srgbClr val="0A7D7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423160"/>
            <a:ext cx="274320" cy="0"/>
          </a:xfrm>
          <a:prstGeom prst="line">
            <a:avLst/>
          </a:prstGeom>
          <a:noFill/>
          <a:ln w="25400">
            <a:solidFill>
              <a:srgbClr val="0A7D7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2423160"/>
            <a:ext cx="228600" cy="0"/>
          </a:xfrm>
          <a:prstGeom prst="line">
            <a:avLst/>
          </a:prstGeom>
          <a:noFill/>
          <a:ln w="25400">
            <a:solidFill>
              <a:srgbClr val="0A7D7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2743200"/>
            <a:ext cx="0" cy="45720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965960" y="3246120"/>
            <a:ext cx="2011680" cy="640080"/>
          </a:xfrm>
          <a:prstGeom prst="roundRect">
            <a:avLst>
              <a:gd name="adj" fmla="val 12857"/>
            </a:avLst>
          </a:prstGeom>
          <a:solidFill>
            <a:srgbClr val="FEF2F2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011680" y="3273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FATAL: no encryption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35570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Rechazado sin pedir contraseña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983480" y="2743200"/>
            <a:ext cx="0" cy="45720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977640" y="3246120"/>
            <a:ext cx="2011680" cy="640080"/>
          </a:xfrm>
          <a:prstGeom prst="roundRect">
            <a:avLst>
              <a:gd name="adj" fmla="val 12857"/>
            </a:avLst>
          </a:prstGeom>
          <a:solidFill>
            <a:srgbClr val="FEF2F2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023360" y="3273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FATAL: password auth failed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23360" y="35570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denegado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995160" y="2743200"/>
            <a:ext cx="0" cy="45720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989320" y="3246120"/>
            <a:ext cx="2011680" cy="640080"/>
          </a:xfrm>
          <a:prstGeom prst="roundRect">
            <a:avLst>
              <a:gd name="adj" fmla="val 12857"/>
            </a:avLst>
          </a:prstGeom>
          <a:solidFill>
            <a:srgbClr val="FEF2F2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0" y="3273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permission denied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35040" y="35570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sensible bloqueada ← prueba central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760" y="43159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punto de decisión es una barrera independiente. Un atacante que supere TLS sigue enfrentando autenticación y luego autorización.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IS-404  •  Tema 5: Seguridad en SGBDD  •  ULEAM 2026-1  •  5/14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— Preparación del entorno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+ Docker + certificado TLS autofirmado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A7D7D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25880"/>
            <a:ext cx="84124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81912"/>
            <a:ext cx="493776" cy="493776"/>
          </a:xfrm>
          <a:prstGeom prst="ellipse">
            <a:avLst/>
          </a:prstGeom>
          <a:solidFill>
            <a:srgbClr val="0A7D7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819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8992" y="14173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certificado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78992" y="1709928"/>
            <a:ext cx="658368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133856" y="1728216"/>
            <a:ext cx="6473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-v "${PWD}/certs:/certs" alpine/openssl req -x509 -newkey rsa:2048 -nodes -keyout /certs/server.key -out /certs/server.crt -days 365 -subj "/CN=localhost"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03911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server.crt y server.key en carpeta certs/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84124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24912"/>
            <a:ext cx="493776" cy="493776"/>
          </a:xfrm>
          <a:prstGeom prst="ellipse">
            <a:avLst/>
          </a:prstGeom>
          <a:solidFill>
            <a:srgbClr val="0A7D7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249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25603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contenedor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78992" y="2852928"/>
            <a:ext cx="658368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1133856" y="2871216"/>
            <a:ext cx="6473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 -d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" y="318211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personalizada con certificados + pg_hba.conf que fuerza hostssl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84124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67912"/>
            <a:ext cx="493776" cy="493776"/>
          </a:xfrm>
          <a:prstGeom prst="ellipse">
            <a:avLst/>
          </a:prstGeom>
          <a:solidFill>
            <a:srgbClr val="0A7D7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679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78992" y="37033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78992" y="3995928"/>
            <a:ext cx="658368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1133856" y="4014216"/>
            <a:ext cx="6473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" y="432511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Estado: Up • Puerto 5432 mapeado • Nombre: farmaec_pg_seguro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IS-404  •  Tema 5: Seguridad en SGBDD  •  ULEAM 2026-1  •  6/14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— Las 5 Pruebas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</a:t>
            </a:r>
            <a:r>
              <a:rPr lang="en-US" sz="1200" i="1" dirty="0" err="1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obtenidos</a:t>
            </a:r>
            <a:r>
              <a:rPr lang="en-US" sz="12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A7D7D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" y="1298448"/>
            <a:ext cx="4114800" cy="1024128"/>
          </a:xfrm>
          <a:prstGeom prst="roundRect">
            <a:avLst>
              <a:gd name="adj" fmla="val 10714"/>
            </a:avLst>
          </a:prstGeom>
          <a:solidFill>
            <a:srgbClr val="FEF2F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817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138988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Sin TLS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773936"/>
            <a:ext cx="3895344" cy="219456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512064" y="1792224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sslmode=disable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2029968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FATAL: no encryption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" y="2468880"/>
            <a:ext cx="4114800" cy="1024128"/>
          </a:xfrm>
          <a:prstGeom prst="roundRect">
            <a:avLst>
              <a:gd name="adj" fmla="val 10714"/>
            </a:avLst>
          </a:prstGeom>
          <a:solidFill>
            <a:srgbClr val="F0FDF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7860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96112" y="256032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 TLS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944368"/>
            <a:ext cx="3895344" cy="219456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15" name="Text 11"/>
          <p:cNvSpPr/>
          <p:nvPr/>
        </p:nvSpPr>
        <p:spPr>
          <a:xfrm>
            <a:off x="512064" y="2962656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sslmode=require → \conninfo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57200" y="320040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SSL connection (TLSv1.3, AES-256-GCM)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47472" y="3639312"/>
            <a:ext cx="4114800" cy="1024128"/>
          </a:xfrm>
          <a:prstGeom prst="roundRect">
            <a:avLst>
              <a:gd name="adj" fmla="val 10714"/>
            </a:avLst>
          </a:prstGeom>
          <a:solidFill>
            <a:srgbClr val="F0FDF4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4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" y="373075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farmaceutico → recetas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4114800"/>
            <a:ext cx="3895344" cy="219456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21" name="Text 16"/>
          <p:cNvSpPr/>
          <p:nvPr/>
        </p:nvSpPr>
        <p:spPr>
          <a:xfrm>
            <a:off x="512064" y="4133088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recetas_medicas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57200" y="4370832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 filas devueltas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681728" y="1298448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1408176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30368" y="138988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analista → </a:t>
            </a:r>
            <a:r>
              <a:rPr lang="en-US" sz="1100" b="1" dirty="0" err="1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recetas</a:t>
            </a: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()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791456" y="1773936"/>
            <a:ext cx="3895344" cy="219456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27" name="Text 21"/>
          <p:cNvSpPr/>
          <p:nvPr/>
        </p:nvSpPr>
        <p:spPr>
          <a:xfrm>
            <a:off x="4846320" y="1792224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recetas_medicas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4791456" y="2029968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ERROR: permission denied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791456" y="225856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central de mínimo privilegio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681728" y="2468880"/>
            <a:ext cx="4114800" cy="1024128"/>
          </a:xfrm>
          <a:prstGeom prst="roundRect">
            <a:avLst>
              <a:gd name="adj" fmla="val 10714"/>
            </a:avLst>
          </a:prstGeom>
          <a:solidFill>
            <a:srgbClr val="F0FDFA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578608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30368" y="256032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Logs auditoría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791456" y="2944368"/>
            <a:ext cx="3895344" cy="219456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34" name="Text 27"/>
          <p:cNvSpPr/>
          <p:nvPr/>
        </p:nvSpPr>
        <p:spPr>
          <a:xfrm>
            <a:off x="4846320" y="2962656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... --tail 50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4791456" y="320040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connection authenticated: scram-sha-256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IS-404  •  Tema 5: Seguridad en SGBDD  •  ULEAM 2026-1  •  7/14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controles verificados con evidencia documental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A7D7D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109219"/>
              </p:ext>
            </p:extLst>
          </p:nvPr>
        </p:nvGraphicFramePr>
        <p:xfrm>
          <a:off x="347472" y="1298448"/>
          <a:ext cx="8449056" cy="3429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Prueba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esperado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obtenido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Conexión sin TLS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Error: no encryption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FATAL: no pg_hba.conf entry… no encryption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</a:rPr>
                        <a:t>✔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Conexión con TLS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SSL activo, contraseña solicitada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SSL connection (TLSv1.3, AES-256-GCM) + Password prompt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</a:rPr>
                        <a:t>✔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farmaceutico → recetas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Filas devueltas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filas: Maria Lopez, Carlos Mera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</a:rPr>
                        <a:t>✔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analista_marketing →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recetas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permission denied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ERROR: permission denied for table recetas_medicas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</a:rPr>
                        <a:t>✔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Logs de auditoría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Conexiones registradas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connection authenticated: method=scram-sha-256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</a:rPr>
                        <a:t>✔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47472" y="46360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IS-404  •  Tema 5: Seguridad en SGBDD  •  ULEAM 2026-1  •  8/14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tiene esta demo y qué le falta para producción real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A7D7D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" y="1298448"/>
            <a:ext cx="4160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264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32" y="142646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autofirmado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41832" y="1755648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protege contra MITM. En producción se requiere CA reconocida (Let's Encrypt, DigiCert).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7472" y="2432304"/>
            <a:ext cx="4160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6032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41832" y="256032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mTLS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41832" y="288950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el servidor se autentica con certificado. Falta autenticar también al cliente (autenticación mutua).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47472" y="3566160"/>
            <a:ext cx="4160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69417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41832" y="36941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rotación de certificados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41832" y="402336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certificado generado dura 365 días sin renovación automática. Herramientas: HashiCorp Vault, cert-manager.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09160" y="1298448"/>
            <a:ext cx="4160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142646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03520" y="142646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básica (no inmutable)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303520" y="1755648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log_statement no genera pista inmutable. Para cumplimiento estricto: extensión pgAudit + SIEM.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709160" y="2432304"/>
            <a:ext cx="4160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2560320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03520" y="256032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 único (no distribuido)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303520" y="288950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cluster real, cada nodo necesita su certificado y la auditoría debe correlacionarse entre nodos.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347472" y="4617720"/>
            <a:ext cx="8449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Estas limitaciones no invalidan la demo </a:t>
            </a:r>
            <a:r>
              <a:rPr lang="en-US" sz="1000" i="1" dirty="0" err="1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</a:t>
            </a:r>
            <a:r>
              <a:rPr lang="en-US" sz="10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hay que </a:t>
            </a:r>
            <a:r>
              <a:rPr lang="en-US" sz="1000" i="1" dirty="0" err="1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tenerlas</a:t>
            </a:r>
            <a:r>
              <a:rPr lang="en-US" sz="10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i="1" dirty="0" err="1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0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i="1" dirty="0" err="1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</a:t>
            </a:r>
            <a:r>
              <a:rPr lang="en-US" sz="10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i="1" dirty="0" err="1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0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</a:t>
            </a:r>
            <a:r>
              <a:rPr lang="en-US" sz="1000" i="1" dirty="0" err="1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</a:t>
            </a:r>
            <a:r>
              <a:rPr lang="en-US" sz="10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000" i="1" dirty="0" err="1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</a:t>
            </a:r>
            <a:r>
              <a:rPr lang="en-US" sz="10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real.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IS-404  •  Tema 5: Seguridad en SGBDD  •  ULEAM 2026-1  •  9/14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 — Proyecto Integrador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farmacias FarmaEC · MongoDB + Cassandra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A7D7D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" y="1298448"/>
            <a:ext cx="411480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426464"/>
            <a:ext cx="457200" cy="457200"/>
          </a:xfrm>
          <a:prstGeom prst="ellipse">
            <a:avLst/>
          </a:prstGeom>
          <a:solidFill>
            <a:srgbClr val="0A7D7D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426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0704" y="1426464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nativos en cada motor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810512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(roles por colección) y Cassandra (roles por keyspace) tienen sistemas de permisos equivalentes. Definir mínimo 3 roles: admin, farmaceutico, analista.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81728" y="1298448"/>
            <a:ext cx="411480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9744" y="1426464"/>
            <a:ext cx="457200" cy="45720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1426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426464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en conexiones inter-nodo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9744" y="1810512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MongoDB activar TLS de replicación. En Cassandra: internode_encryption: all en cassandra.yaml. El riesgo no es solo el cliente externo.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962656"/>
            <a:ext cx="411480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3090672"/>
            <a:ext cx="457200" cy="457200"/>
          </a:xfrm>
          <a:prstGeom prst="ellipse">
            <a:avLst/>
          </a:prstGeom>
          <a:solidFill>
            <a:srgbClr val="0A5F6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0704" y="309067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datos sensibles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474720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Recetas médicas en colección/keyspace aparte del inventario. Permite aplicar controles más estrictos sin impactar rendimiento de operaciones comerciales.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81728" y="2962656"/>
            <a:ext cx="411480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9744" y="309067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309067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habilitada desde el inicio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9744" y="3474720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MongoDB: profiler de auditoría. Cassandra: PasswordAuthenticator + plugin de auditoría. Configurar antes del primer dato en producción.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IS-404  •  Tema 5: Seguridad en SGBDD  •  ULEAM 2026-1  •  11/14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Comparativa Final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en los 3 motores del Proyecto Integrador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A7D7D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98448"/>
          <a:ext cx="8595360" cy="3547872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86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Tecnología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 / PACELC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Consistencia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Replicación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Ventajas de seguridad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Riesgos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 de uso FarmaEC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  /  PC=LC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Fuerte (ACID)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Streaming + logical (multi-replica)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TLS nativo, SCRAM-SHA-256, RBAC granular, RLS, pgAudit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Replicación compleja en multi-nodo; sin sharding nativo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Recetas médicas + datos transaccionales que requieren consistencia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MongoDB 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  /  PC=LC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Configurable (w:majority)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Replica Set + Sharding horizontal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TLS inter-nodo, roles por colección, auditoría nativa (Enterprise)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Auditoría completa solo en Enterprise; documentos anidados dificultan control de campos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Inventario multi-sucursal con sharding geográfico (Lab 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 Cassandra 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  /  EL=EH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Eventual (ajustable por CL)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Multi-nodo automática (factor configurable)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TLS internode_encryption, roles por keyspace, PasswordAuthenticator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Consistencia eventual: riesgo de leer dato desactualizado; auditoría limitada en Community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Historial de ventas y stock con alta disponibilidad (Lab 3)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75488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PACELC: PA=AP en partición · CL=consistencia baja · LC=latencia corta · EL=EH en estado normal · EH=equilibrio latencia-consistencia.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IS-404  •  Tema 5: Seguridad en SGBDD  •  ULEAM 2026-1  •  12/14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Avanzados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A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allá de la demo mínima: hacia producción real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A7D7D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" y="1298448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426464"/>
            <a:ext cx="475488" cy="475488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48132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444752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 (autenticación mutua)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" y="1865376"/>
            <a:ext cx="3858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servidor y el cliente intercambian certificados. Garantiza identidad en ambos extremos. Esencial en arquitecturas zero-trust.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81728" y="1298448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9744" y="1426464"/>
            <a:ext cx="475488" cy="475488"/>
          </a:xfrm>
          <a:prstGeom prst="ellipse">
            <a:avLst/>
          </a:prstGeom>
          <a:solidFill>
            <a:srgbClr val="0A7D7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48132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13248" y="1444752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Rotación de certificados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09744" y="1865376"/>
            <a:ext cx="3858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Renovación automática antes de expiración. HashiCorp Vault o cert-manager en Kubernetes. Sin rotación, un certificado comprometido es eterno.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47472" y="3090672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" y="3218688"/>
            <a:ext cx="475488" cy="475488"/>
          </a:xfrm>
          <a:prstGeom prst="ellipse">
            <a:avLst/>
          </a:prstGeom>
          <a:solidFill>
            <a:srgbClr val="0A5F6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27355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78992" y="3236976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pgAudit + SIEM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75488" y="3657600"/>
            <a:ext cx="3858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estructurada e inmutable. Eventos correlacionados con sistemas de detección. Cumplimiento LOPDP auditable.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81728" y="3090672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9744" y="3218688"/>
            <a:ext cx="475488" cy="47548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27355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13248" y="3236976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Residencia y anonimización de datos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809744" y="3657600"/>
            <a:ext cx="3858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pacientes no deben salir del país (LOPDP). Pseudonimización o enmascaramiento en reportes de marketing.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IS-404  •  Tema 5: Seguridad en SGBDD  •  ULEAM 2026-1  •  13/14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0A7D7D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25880"/>
            <a:ext cx="8412480" cy="749808"/>
          </a:xfrm>
          <a:prstGeom prst="roundRect">
            <a:avLst>
              <a:gd name="adj" fmla="val 14634"/>
            </a:avLst>
          </a:prstGeom>
          <a:solidFill>
            <a:srgbClr val="1A3A5C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2704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2416" y="1453896"/>
            <a:ext cx="7607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obligatorio es configurable en minutos con PostgreSQL nativo. No hay excusa técnica para dejar conexiones sin cifrar.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2221992"/>
            <a:ext cx="8412480" cy="749808"/>
          </a:xfrm>
          <a:prstGeom prst="roundRect">
            <a:avLst>
              <a:gd name="adj" fmla="val 14634"/>
            </a:avLst>
          </a:prstGeom>
          <a:solidFill>
            <a:srgbClr val="1A3A5C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42316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42416" y="2350008"/>
            <a:ext cx="7607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principio de mínimo privilegio funciona: un usuario autenticado sin GRANT no puede leer datos sensibles, aunque conozca la contraseña.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65760" y="3118104"/>
            <a:ext cx="8412480" cy="749808"/>
          </a:xfrm>
          <a:prstGeom prst="roundRect">
            <a:avLst>
              <a:gd name="adj" fmla="val 14634"/>
            </a:avLst>
          </a:prstGeom>
          <a:solidFill>
            <a:srgbClr val="1A3A5C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19272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42416" y="3246120"/>
            <a:ext cx="7607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auditoría básica (log_connections + log_statement) deja evidencia real del acceso al servidor, útil para reportes de cumplimiento LOPDP.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65760" y="4014216"/>
            <a:ext cx="8412480" cy="749808"/>
          </a:xfrm>
          <a:prstGeom prst="roundRect">
            <a:avLst>
              <a:gd name="adj" fmla="val 14634"/>
            </a:avLst>
          </a:prstGeom>
          <a:solidFill>
            <a:srgbClr val="1A3A5C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215384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42416" y="4142232"/>
            <a:ext cx="7607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controles juntos (TLS + roles + auditoría) cubren el mínimo técnico que exige el Art. 37 de la LOPDP para datos de salud.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IS-404  •  Tema 5: Seguridad en SGBDD  •  ULEAM 2026-1  •  10/14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3474720" y="27432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14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F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 Privacidad y Cumplimiento Normativo en SGBDD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0" y="3749040"/>
            <a:ext cx="3657600" cy="18288"/>
          </a:xfrm>
          <a:prstGeom prst="rect">
            <a:avLst/>
          </a:prstGeom>
          <a:solidFill>
            <a:srgbClr val="0A7D7D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8221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5  ·  IS-404  ·  ULEAM 2026-1  ·  Ing. Gómez Calderón Israel Julio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2031</Words>
  <Application>Microsoft Office PowerPoint</Application>
  <PresentationFormat>Presentación en pantalla (16:9)</PresentationFormat>
  <Paragraphs>244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5: Seguridad, Privacidad y Cumplimiento en SGBDD</dc:title>
  <dc:subject>PptxGenJS Presentation</dc:subject>
  <dc:creator>Grupo 5 – IS-404 ULEAM 2026-1</dc:creator>
  <cp:lastModifiedBy>PAZMIÑO GRANILLO DERICK PAOLO</cp:lastModifiedBy>
  <cp:revision>5</cp:revision>
  <dcterms:created xsi:type="dcterms:W3CDTF">2026-06-18T22:06:34Z</dcterms:created>
  <dcterms:modified xsi:type="dcterms:W3CDTF">2026-06-30T02:34:36Z</dcterms:modified>
</cp:coreProperties>
</file>